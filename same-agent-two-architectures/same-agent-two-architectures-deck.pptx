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7" r:id="rId2"/>
    <p:sldMasterId id="2147483662" r:id="rId3"/>
    <p:sldMasterId id="2147483664" r:id="rId4"/>
    <p:sldMasterId id="2147483667" r:id="rId5"/>
    <p:sldMasterId id="2147483669" r:id="rId6"/>
    <p:sldMasterId id="2147483679" r:id="rId7"/>
  </p:sldMasterIdLst>
  <p:notesMasterIdLst>
    <p:notesMasterId r:id="rId34"/>
  </p:notesMasterIdLst>
  <p:sldIdLst>
    <p:sldId id="262" r:id="rId14"/>
    <p:sldId id="264" r:id="rId16"/>
    <p:sldId id="287" r:id="rId39"/>
    <p:sldId id="304" r:id="rId30"/>
    <p:sldId id="305" r:id="rId33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302" r:id="rId31"/>
    <p:sldId id="303" r:id="rId32"/>
    <p:sldId id="296" r:id="rId48"/>
    <p:sldId id="297" r:id="rId49"/>
    <p:sldId id="298" r:id="rId50"/>
    <p:sldId id="299" r:id="rId51"/>
    <p:sldId id="300" r:id="rId52"/>
    <p:sldId id="301" r:id="rId53"/>
    <p:sldId id="307" r:id="rId28"/>
    <p:sldId id="271" r:id="rId25"/>
    <p:sldId id="30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3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/>
    <p:restoredTop sz="94658"/>
  </p:normalViewPr>
  <p:slideViewPr>
    <p:cSldViewPr snapToGrid="0">
      <p:cViewPr varScale="1">
        <p:scale>
          <a:sx n="120" d="100"/>
          <a:sy n="120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976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14" Type="http://schemas.openxmlformats.org/officeDocument/2006/relationships/slide" Target="slides/slide1.xml"/><Relationship Id="rId16" Type="http://schemas.openxmlformats.org/officeDocument/2006/relationships/slide" Target="slides/slide2.xml"/><Relationship Id="rId25" Type="http://schemas.openxmlformats.org/officeDocument/2006/relationships/slide" Target="slides/slide22.xml"/><Relationship Id="rId28" Type="http://schemas.openxmlformats.org/officeDocument/2006/relationships/slide" Target="slides/slide21.xml"/><Relationship Id="rId29" Type="http://schemas.openxmlformats.org/officeDocument/2006/relationships/slide" Target="slides/slide23.xml"/><Relationship Id="rId30" Type="http://schemas.openxmlformats.org/officeDocument/2006/relationships/slide" Target="slides/slide4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5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FAF28-6A1E-3F4A-A08C-3876A36AC85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F44A-7E13-3541-BDD2-8742C2EE3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7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7.png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77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15B7C5-9D85-5A5C-9AE2-A0198C64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1935162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B4CB5CD-C70D-9033-0FB7-ABB713656970}"/>
              </a:ext>
            </a:extLst>
          </p:cNvPr>
          <p:cNvSpPr/>
          <p:nvPr userDrawn="1"/>
        </p:nvSpPr>
        <p:spPr>
          <a:xfrm>
            <a:off x="528108" y="1957432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</p:spTree>
    <p:extLst>
      <p:ext uri="{BB962C8B-B14F-4D97-AF65-F5344CB8AC3E}">
        <p14:creationId xmlns:p14="http://schemas.microsoft.com/office/powerpoint/2010/main" val="166814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15B7C5-9D85-5A5C-9AE2-A0198C64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1935162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B4CB5CD-C70D-9033-0FB7-ABB713656970}"/>
              </a:ext>
            </a:extLst>
          </p:cNvPr>
          <p:cNvSpPr/>
          <p:nvPr userDrawn="1"/>
        </p:nvSpPr>
        <p:spPr>
          <a:xfrm>
            <a:off x="528108" y="1957432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B4889101-8310-9263-4B6D-95A2A27A3D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61679" y="1655058"/>
            <a:ext cx="3264575" cy="3264112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headshot</a:t>
            </a:r>
          </a:p>
        </p:txBody>
      </p:sp>
    </p:spTree>
    <p:extLst>
      <p:ext uri="{BB962C8B-B14F-4D97-AF65-F5344CB8AC3E}">
        <p14:creationId xmlns:p14="http://schemas.microsoft.com/office/powerpoint/2010/main" val="131584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739750-F843-0751-1981-7EDE0526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563557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DCECBF9-3BA9-165B-F389-28E2A3A15A40}"/>
              </a:ext>
            </a:extLst>
          </p:cNvPr>
          <p:cNvSpPr/>
          <p:nvPr userDrawn="1"/>
        </p:nvSpPr>
        <p:spPr>
          <a:xfrm>
            <a:off x="528108" y="69666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</p:spTree>
    <p:extLst>
      <p:ext uri="{BB962C8B-B14F-4D97-AF65-F5344CB8AC3E}">
        <p14:creationId xmlns:p14="http://schemas.microsoft.com/office/powerpoint/2010/main" val="3037416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739750-F843-0751-1981-7EDE0526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563557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DCECBF9-3BA9-165B-F389-28E2A3A15A40}"/>
              </a:ext>
            </a:extLst>
          </p:cNvPr>
          <p:cNvSpPr/>
          <p:nvPr userDrawn="1"/>
        </p:nvSpPr>
        <p:spPr>
          <a:xfrm>
            <a:off x="528108" y="69666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7C04136-1235-A177-D098-BEE02FED0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7" y="1672535"/>
            <a:ext cx="7844496" cy="4632253"/>
          </a:xfrm>
          <a:prstGeom prst="rect">
            <a:avLst/>
          </a:prstGeom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09759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739750-F843-0751-1981-7EDE0526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563557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DCECBF9-3BA9-165B-F389-28E2A3A15A40}"/>
              </a:ext>
            </a:extLst>
          </p:cNvPr>
          <p:cNvSpPr/>
          <p:nvPr userDrawn="1"/>
        </p:nvSpPr>
        <p:spPr>
          <a:xfrm>
            <a:off x="528108" y="69666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6E4B187-724F-154C-AC66-024670E7EC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1697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EF4905F-6622-3F24-52EF-3F803D0551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1697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D797D89-748F-6E69-E021-C5252B7E0A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6624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8830D98F-18A9-545D-2B1C-299D5847EF5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6624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34E42A6-1524-4925-0775-EA240CAED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5791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A41AC80-3BC1-817E-6685-A17FEE9892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82484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AAB1E3-8777-2FFB-D506-0DBD02BD8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5791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37F3B93-D82D-CC45-0720-4A458E5052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82484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079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739750-F843-0751-1981-7EDE0526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901" y="512757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6E4B187-724F-154C-AC66-024670E7EC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584584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EF4905F-6622-3F24-52EF-3F803D0551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4584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D797D89-748F-6E69-E021-C5252B7E0A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9511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8830D98F-18A9-545D-2B1C-299D5847EF5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9511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34E42A6-1524-4925-0775-EA240CAED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18678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A41AC80-3BC1-817E-6685-A17FEE9892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5371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AAB1E3-8777-2FFB-D506-0DBD02BD8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8678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37F3B93-D82D-CC45-0720-4A458E5052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05371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8AEA136-7EB5-C6C4-895C-5236AA627278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</p:spTree>
    <p:extLst>
      <p:ext uri="{BB962C8B-B14F-4D97-AF65-F5344CB8AC3E}">
        <p14:creationId xmlns:p14="http://schemas.microsoft.com/office/powerpoint/2010/main" val="3910043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F5EE87B3-248E-83C6-EA57-6181EE33C712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B5CE898-FF76-2F46-D21A-84C6A504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756" y="518951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F5EE87B3-248E-83C6-EA57-6181EE33C712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9FE0C-733B-81AC-6E7F-DB5202BD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059" y="509350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0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739750-F843-0751-1981-7EDE0526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901" y="512757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6E4B187-724F-154C-AC66-024670E7EC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584584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1B4396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EF4905F-6622-3F24-52EF-3F803D0551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4584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1B4396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D797D89-748F-6E69-E021-C5252B7E0A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9511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1B4396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8830D98F-18A9-545D-2B1C-299D5847EF5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9511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1B4396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34E42A6-1524-4925-0775-EA240CAED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18678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A41AC80-3BC1-817E-6685-A17FEE9892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5371" y="1632056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AAB1E3-8777-2FFB-D506-0DBD02BD8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8678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37F3B93-D82D-CC45-0720-4A458E5052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05371" y="4189625"/>
            <a:ext cx="1980443" cy="1865207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8AEA136-7EB5-C6C4-895C-5236AA627278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</p:spTree>
    <p:extLst>
      <p:ext uri="{BB962C8B-B14F-4D97-AF65-F5344CB8AC3E}">
        <p14:creationId xmlns:p14="http://schemas.microsoft.com/office/powerpoint/2010/main" val="14940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D6135DF4-A9B8-F0BE-5079-283C39764428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32E06-3EC8-9230-394F-1A4E8042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756" y="518951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69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D6135DF4-A9B8-F0BE-5079-283C39764428}"/>
              </a:ext>
            </a:extLst>
          </p:cNvPr>
          <p:cNvSpPr/>
          <p:nvPr userDrawn="1"/>
        </p:nvSpPr>
        <p:spPr>
          <a:xfrm>
            <a:off x="1484076" y="585825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AE444-FB04-EF83-A9D3-EE2EC23F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756" y="518951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200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6BAF980A-3CDF-5EB6-318D-8DBD35A0CE85}"/>
              </a:ext>
            </a:extLst>
          </p:cNvPr>
          <p:cNvSpPr/>
          <p:nvPr userDrawn="1"/>
        </p:nvSpPr>
        <p:spPr>
          <a:xfrm>
            <a:off x="580899" y="2043488"/>
            <a:ext cx="96228" cy="1246050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1D19-AEBC-DF04-F265-C8079CF63C2C}"/>
              </a:ext>
            </a:extLst>
          </p:cNvPr>
          <p:cNvSpPr txBox="1"/>
          <p:nvPr userDrawn="1"/>
        </p:nvSpPr>
        <p:spPr>
          <a:xfrm>
            <a:off x="871322" y="1922300"/>
            <a:ext cx="4656520" cy="148842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lvl="0" indent="12700" eaLnBrk="1" hangingPunct="1">
              <a:spcBef>
                <a:spcPts val="100"/>
              </a:spcBef>
              <a:defRPr sz="4400" b="1" spc="-200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lvl="0"/>
            <a:endParaRPr lang="en-US" sz="4488" dirty="0">
              <a:solidFill>
                <a:srgbClr val="1B4396"/>
              </a:solidFill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E21AF-3115-093A-A1FF-A0C828B6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407" y="2043488"/>
            <a:ext cx="6077634" cy="1351952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B4396"/>
                </a:solidFill>
                <a:latin typeface="Segoe" panose="020B0502040200020203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11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2043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25.xml"/><Relationship Id="rId9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22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7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59" r:id="rId3"/>
    <p:sldLayoutId id="2147483666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9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2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9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5" r:id="rId2"/>
    <p:sldLayoutId id="214748368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84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18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066617"/>
      </p:ext>
    </p:extLst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38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0489F00-C08D-4462-E92F-29A7A543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14" y="1600200"/>
            <a:ext cx="7772400" cy="1463040"/>
          </a:xfrm>
        </p:spPr>
        <p:txBody>
          <a:bodyPr/>
          <a:lstStyle/>
          <a:p>
            <a:r>
              <a:rPr sz="4000"/>
              <a:t>Same Agent,</a:t>
            </a:r>
          </a:p>
          <a:p>
            <a:r>
              <a:rPr sz="4000"/>
              <a:t>Two Architectures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089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C4661B"/>
                </a:solidFill>
                <a:latin typeface="Verdana"/>
              </a:rPr>
              <a:t>When MCP Wins (And When It Doesn't)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1188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4396"/>
                </a:solidFill>
                <a:latin typeface="Verdana"/>
              </a:rPr>
              <a:t>Mariano Gomez Bent</a:t>
            </a:r>
            <a:r>
              <a:rPr sz="1400" b="0" i="0">
                <a:solidFill>
                  <a:srgbClr val="2D3748"/>
                </a:solidFill>
                <a:latin typeface="Verdana"/>
              </a:rPr>
              <a:t>   Chief Product &amp; Technology Officer, Mekorma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2D3748"/>
                </a:solidFill>
                <a:latin typeface="Verdana"/>
              </a:rPr>
              <a:t>Community Summit NA 2026  •  Nashville, TN  •  October 11–15</a:t>
            </a:r>
          </a:p>
        </p:txBody>
      </p:sp>
    </p:spTree>
    <p:extLst>
      <p:ext uri="{BB962C8B-B14F-4D97-AF65-F5344CB8AC3E}">
        <p14:creationId xmlns:p14="http://schemas.microsoft.com/office/powerpoint/2010/main" val="286496140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3200"/>
              <a:t>About the Speaker</a:t>
            </a:r>
          </a:p>
        </p:txBody>
      </p:sp>
      <p:sp>
        <p:nvSpPr>
          <p:cNvPr id="4" name="Text 3"/>
          <p:cNvSpPr/>
          <p:nvPr/>
        </p:nvSpPr>
        <p:spPr>
          <a:xfrm>
            <a:off x="1737360" y="1417320"/>
            <a:ext cx="6035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Mariano Gomez Bent</a:t>
            </a:r>
            <a:endParaRPr lang="en-US" sz="3300" dirty="0"/>
          </a:p>
        </p:txBody>
      </p:sp>
      <p:sp>
        <p:nvSpPr>
          <p:cNvPr id="5" name="Text 4"/>
          <p:cNvSpPr/>
          <p:nvPr/>
        </p:nvSpPr>
        <p:spPr>
          <a:xfrm>
            <a:off x="1737360" y="2152497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4661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Chief Product &amp; Technology Officer</a:t>
            </a:r>
            <a:endParaRPr lang="en-US" sz="1550" dirty="0"/>
          </a:p>
        </p:txBody>
      </p:sp>
      <p:sp>
        <p:nvSpPr>
          <p:cNvPr id="6" name="Text 6"/>
          <p:cNvSpPr/>
          <p:nvPr/>
        </p:nvSpPr>
        <p:spPr>
          <a:xfrm>
            <a:off x="1737360" y="3118103"/>
            <a:ext cx="59253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Former Microsoft Business Applications MVP (2008-2024)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Microsoft Certified Trainer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International Speaker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Building AI-First products with Microsoft Power Platform and Copilot Studio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Focused on practical AI architecture for real-world enterprise scenarios</a:t>
            </a:r>
            <a:endParaRPr lang="en-US" sz="1350" dirty="0"/>
          </a:p>
        </p:txBody>
      </p:sp>
      <p:pic>
        <p:nvPicPr>
          <p:cNvPr id="7" name="Picture 7" descr="headsho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16" y="1325880"/>
            <a:ext cx="2651760" cy="2651760"/>
          </a:xfrm>
          <a:prstGeom prst="rect">
            <a:avLst/>
          </a:prstGeom>
        </p:spPr>
      </p:pic>
      <p:pic>
        <p:nvPicPr>
          <p:cNvPr id="8" name="Picture 8" descr="MVP Alumn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4251960"/>
            <a:ext cx="1325880" cy="1325880"/>
          </a:xfrm>
          <a:prstGeom prst="rect">
            <a:avLst/>
          </a:prstGeom>
        </p:spPr>
      </p:pic>
      <p:pic>
        <p:nvPicPr>
          <p:cNvPr id="9" name="Picture 9" descr="MCT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36" y="4091939"/>
            <a:ext cx="1645920" cy="1645920"/>
          </a:xfrm>
          <a:prstGeom prst="rect">
            <a:avLst/>
          </a:prstGeom>
        </p:spPr>
      </p:pic>
      <p:pic>
        <p:nvPicPr>
          <p:cNvPr id="10" name="Picture 10" descr="mekorma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651760"/>
            <a:ext cx="2286000" cy="289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731520"/>
          </a:xfrm>
        </p:spPr>
        <p:txBody>
          <a:bodyPr/>
          <a:lstStyle/>
          <a:p>
            <a:r>
              <a:rPr sz="3200"/>
              <a:t>Session Agenda</a:t>
            </a:r>
          </a:p>
        </p:txBody>
      </p:sp>
      <p:sp>
        <p:nvSpPr>
          <p:cNvPr id="4" name="Oval 2"/>
          <p:cNvSpPr/>
          <p:nvPr/>
        </p:nvSpPr>
        <p:spPr>
          <a:xfrm>
            <a:off x="1691640" y="1490472"/>
            <a:ext cx="384048" cy="384048"/>
          </a:xfrm>
          <a:prstGeom prst="ellipse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2240280" y="141732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The setup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6172200" y="141732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MCP will not replace your connectors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10744200" y="141732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5 min</a:t>
            </a:r>
          </a:p>
        </p:txBody>
      </p:sp>
      <p:cxnSp>
        <p:nvCxnSpPr>
          <p:cNvPr id="8" name="Connector 6"/>
          <p:cNvCxnSpPr/>
          <p:nvPr/>
        </p:nvCxnSpPr>
        <p:spPr>
          <a:xfrm>
            <a:off x="2240280" y="1965960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7"/>
          <p:cNvSpPr/>
          <p:nvPr/>
        </p:nvSpPr>
        <p:spPr>
          <a:xfrm>
            <a:off x="1691640" y="2039112"/>
            <a:ext cx="384048" cy="38404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2240280" y="196596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Meet Project Orion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6172200" y="196596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The scenario, the data, and the dashboard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10744200" y="196596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5 min</a:t>
            </a:r>
          </a:p>
        </p:txBody>
      </p:sp>
      <p:cxnSp>
        <p:nvCxnSpPr>
          <p:cNvPr id="13" name="Connector 11"/>
          <p:cNvCxnSpPr/>
          <p:nvPr/>
        </p:nvCxnSpPr>
        <p:spPr>
          <a:xfrm>
            <a:off x="2240280" y="2514600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2"/>
          <p:cNvSpPr/>
          <p:nvPr/>
        </p:nvSpPr>
        <p:spPr>
          <a:xfrm>
            <a:off x="1691640" y="2587752"/>
            <a:ext cx="384048" cy="384048"/>
          </a:xfrm>
          <a:prstGeom prst="ellipse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2240280" y="251460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Three tools, three jobs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6172200" y="25146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What actually changes with MCP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10744200" y="251460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12 min</a:t>
            </a:r>
          </a:p>
        </p:txBody>
      </p:sp>
      <p:cxnSp>
        <p:nvCxnSpPr>
          <p:cNvPr id="18" name="Connector 16"/>
          <p:cNvCxnSpPr/>
          <p:nvPr/>
        </p:nvCxnSpPr>
        <p:spPr>
          <a:xfrm>
            <a:off x="2240280" y="3063240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7"/>
          <p:cNvSpPr/>
          <p:nvPr/>
        </p:nvSpPr>
        <p:spPr>
          <a:xfrm>
            <a:off x="1691640" y="3136391"/>
            <a:ext cx="384048" cy="38404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2240280" y="3063239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Demo 1: the connector agent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6172200" y="3063239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Where a connector wins, and its ceiling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0744200" y="3063239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15 min</a:t>
            </a:r>
          </a:p>
        </p:txBody>
      </p:sp>
      <p:cxnSp>
        <p:nvCxnSpPr>
          <p:cNvPr id="23" name="Connector 21"/>
          <p:cNvCxnSpPr/>
          <p:nvPr/>
        </p:nvCxnSpPr>
        <p:spPr>
          <a:xfrm>
            <a:off x="2240280" y="3611879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2"/>
          <p:cNvSpPr/>
          <p:nvPr/>
        </p:nvSpPr>
        <p:spPr>
          <a:xfrm>
            <a:off x="1691640" y="3685032"/>
            <a:ext cx="384048" cy="384048"/>
          </a:xfrm>
          <a:prstGeom prst="ellipse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2240280" y="361188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Two architectures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6172200" y="361188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Today's demo setup vs. what you'd ship</a:t>
            </a:r>
          </a:p>
        </p:txBody>
      </p:sp>
      <p:sp>
        <p:nvSpPr>
          <p:cNvPr id="27" name="TextBox 25"/>
          <p:cNvSpPr txBox="1"/>
          <p:nvPr/>
        </p:nvSpPr>
        <p:spPr>
          <a:xfrm>
            <a:off x="10744200" y="361188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8 min</a:t>
            </a:r>
          </a:p>
        </p:txBody>
      </p:sp>
      <p:cxnSp>
        <p:nvCxnSpPr>
          <p:cNvPr id="28" name="Connector 26"/>
          <p:cNvCxnSpPr/>
          <p:nvPr/>
        </p:nvCxnSpPr>
        <p:spPr>
          <a:xfrm>
            <a:off x="2240280" y="4160520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7"/>
          <p:cNvSpPr/>
          <p:nvPr/>
        </p:nvSpPr>
        <p:spPr>
          <a:xfrm>
            <a:off x="1691640" y="4233672"/>
            <a:ext cx="384048" cy="38404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6</a:t>
            </a:r>
          </a:p>
        </p:txBody>
      </p:sp>
      <p:sp>
        <p:nvSpPr>
          <p:cNvPr id="30" name="TextBox 28"/>
          <p:cNvSpPr txBox="1"/>
          <p:nvPr/>
        </p:nvSpPr>
        <p:spPr>
          <a:xfrm>
            <a:off x="2240280" y="416052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Demo 2: the MCP agent</a:t>
            </a:r>
          </a:p>
        </p:txBody>
      </p:sp>
      <p:sp>
        <p:nvSpPr>
          <p:cNvPr id="31" name="TextBox 29"/>
          <p:cNvSpPr txBox="1"/>
          <p:nvPr/>
        </p:nvSpPr>
        <p:spPr>
          <a:xfrm>
            <a:off x="6172200" y="416052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The server changes, the agent follows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10744200" y="416052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18 min</a:t>
            </a:r>
          </a:p>
        </p:txBody>
      </p:sp>
      <p:cxnSp>
        <p:nvCxnSpPr>
          <p:cNvPr id="33" name="Connector 31"/>
          <p:cNvCxnSpPr/>
          <p:nvPr/>
        </p:nvCxnSpPr>
        <p:spPr>
          <a:xfrm>
            <a:off x="2240280" y="4709159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2"/>
          <p:cNvSpPr/>
          <p:nvPr/>
        </p:nvSpPr>
        <p:spPr>
          <a:xfrm>
            <a:off x="1691640" y="4782312"/>
            <a:ext cx="384048" cy="384048"/>
          </a:xfrm>
          <a:prstGeom prst="ellipse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7</a:t>
            </a:r>
          </a:p>
        </p:txBody>
      </p:sp>
      <p:sp>
        <p:nvSpPr>
          <p:cNvPr id="35" name="TextBox 33"/>
          <p:cNvSpPr txBox="1"/>
          <p:nvPr/>
        </p:nvSpPr>
        <p:spPr>
          <a:xfrm>
            <a:off x="2240280" y="4709159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When to reach for MCP</a:t>
            </a:r>
          </a:p>
        </p:txBody>
      </p:sp>
      <p:sp>
        <p:nvSpPr>
          <p:cNvPr id="36" name="TextBox 34"/>
          <p:cNvSpPr txBox="1"/>
          <p:nvPr/>
        </p:nvSpPr>
        <p:spPr>
          <a:xfrm>
            <a:off x="6172200" y="4709159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The decision framework and the honest warning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10744200" y="4709159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12 min</a:t>
            </a:r>
          </a:p>
        </p:txBody>
      </p:sp>
      <p:cxnSp>
        <p:nvCxnSpPr>
          <p:cNvPr id="38" name="Connector 36"/>
          <p:cNvCxnSpPr/>
          <p:nvPr/>
        </p:nvCxnSpPr>
        <p:spPr>
          <a:xfrm>
            <a:off x="2240280" y="5257799"/>
            <a:ext cx="937260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7"/>
          <p:cNvSpPr/>
          <p:nvPr/>
        </p:nvSpPr>
        <p:spPr>
          <a:xfrm>
            <a:off x="1691640" y="5330952"/>
            <a:ext cx="384048" cy="38404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8</a:t>
            </a:r>
          </a:p>
        </p:txBody>
      </p:sp>
      <p:sp>
        <p:nvSpPr>
          <p:cNvPr id="40" name="TextBox 38"/>
          <p:cNvSpPr txBox="1"/>
          <p:nvPr/>
        </p:nvSpPr>
        <p:spPr>
          <a:xfrm>
            <a:off x="2240280" y="525780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1B4396"/>
                </a:solidFill>
                <a:latin typeface="Verdana"/>
              </a:rPr>
              <a:t>Take it home</a:t>
            </a:r>
          </a:p>
        </p:txBody>
      </p:sp>
      <p:sp>
        <p:nvSpPr>
          <p:cNvPr id="41" name="TextBox 39"/>
          <p:cNvSpPr txBox="1"/>
          <p:nvPr/>
        </p:nvSpPr>
        <p:spPr>
          <a:xfrm>
            <a:off x="6172200" y="52578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The lab, the repo, and Q&amp;A</a:t>
            </a:r>
          </a:p>
        </p:txBody>
      </p:sp>
      <p:sp>
        <p:nvSpPr>
          <p:cNvPr id="42" name="TextBox 40"/>
          <p:cNvSpPr txBox="1"/>
          <p:nvPr/>
        </p:nvSpPr>
        <p:spPr>
          <a:xfrm>
            <a:off x="10744200" y="5257800"/>
            <a:ext cx="8686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300" b="0" i="0">
                <a:solidFill>
                  <a:srgbClr val="5B6578"/>
                </a:solidFill>
                <a:latin typeface="Verdana"/>
              </a:rPr>
              <a:t>15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731520"/>
          </a:xfrm>
        </p:spPr>
        <p:txBody>
          <a:bodyPr/>
          <a:lstStyle/>
          <a:p>
            <a:r>
              <a:rPr sz="3200"/>
              <a:t>Learning Objectives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691640" y="1261872"/>
            <a:ext cx="996696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400" b="0" i="1">
                <a:solidFill>
                  <a:srgbClr val="5B6578"/>
                </a:solidFill>
                <a:latin typeface="Verdana"/>
              </a:rPr>
              <a:t>By the end of this session, you will be able to: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1691640" y="182880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1920240" y="2167128"/>
            <a:ext cx="475488" cy="47548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2606040" y="1938528"/>
            <a:ext cx="8778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700" b="1" i="0">
                <a:solidFill>
                  <a:srgbClr val="1B4396"/>
                </a:solidFill>
                <a:latin typeface="Verdana"/>
              </a:rPr>
              <a:t>Explain what actually changes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2606040" y="2331720"/>
            <a:ext cx="87782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Moving from a connector to an MCP server changes who owns the tools, not who decides to call them.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1691640" y="315468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8"/>
          <p:cNvSpPr/>
          <p:nvPr/>
        </p:nvSpPr>
        <p:spPr>
          <a:xfrm>
            <a:off x="1920240" y="3493008"/>
            <a:ext cx="475488" cy="47548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2606040" y="3264408"/>
            <a:ext cx="8778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700" b="1" i="0">
                <a:solidFill>
                  <a:srgbClr val="1B4396"/>
                </a:solidFill>
                <a:latin typeface="Verdana"/>
              </a:rPr>
              <a:t>Decide when MCP earns its cost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2606040" y="3657600"/>
            <a:ext cx="87782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Use two questions: how many agents share these tools, and how often do the tools change?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691640" y="448056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2"/>
          <p:cNvSpPr/>
          <p:nvPr/>
        </p:nvSpPr>
        <p:spPr>
          <a:xfrm>
            <a:off x="1920240" y="4818888"/>
            <a:ext cx="475488" cy="475488"/>
          </a:xfrm>
          <a:prstGeom prst="ellipse">
            <a:avLst/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2606040" y="4590288"/>
            <a:ext cx="87782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700" b="1" i="0">
                <a:solidFill>
                  <a:srgbClr val="1B4396"/>
                </a:solidFill>
                <a:latin typeface="Verdana"/>
              </a:rPr>
              <a:t>Build it yourself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2606040" y="4983480"/>
            <a:ext cx="87782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Verdana"/>
              </a:rPr>
              <a:t>A custom MCP server over SQL, GitHub's MCP server, a new tool rolled out without republishing the agent, and what changes for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9875520" cy="1280160"/>
          </a:xfrm>
        </p:spPr>
        <p:txBody>
          <a:bodyPr anchor="t"/>
          <a:lstStyle/>
          <a:p>
            <a:r>
              <a:rPr sz="3600"/>
              <a:t>“MCP will not replace your connectors.”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822960" y="338328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D3748"/>
                </a:solidFill>
                <a:latin typeface="Verdana"/>
              </a:rPr>
              <a:t>The right question is not which tool is better.</a:t>
            </a:r>
          </a:p>
          <a:p>
            <a:pPr algn="l">
              <a:spcBef>
                <a:spcPts val="800"/>
              </a:spcBef>
            </a:pPr>
            <a:r>
              <a:rPr sz="1600" b="0" i="1">
                <a:solidFill>
                  <a:srgbClr val="2D3748"/>
                </a:solidFill>
                <a:latin typeface="Verdana"/>
              </a:rPr>
              <a:t>The right question is: what does my agent need to 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3200"/>
              <a:t>Introducing Project Orion</a:t>
            </a:r>
          </a:p>
        </p:txBody>
      </p:sp>
      <p:sp>
        <p:nvSpPr>
          <p:cNvPr id="4" name="Text 4"/>
          <p:cNvSpPr/>
          <p:nvPr/>
        </p:nvSpPr>
        <p:spPr>
          <a:xfrm>
            <a:off x="1747011" y="1417320"/>
            <a:ext cx="9745472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 enterprise team building a customer-facing web app. Mid-release cycle. Under pressure.</a:t>
            </a:r>
            <a:endParaRPr lang="en-US" sz="1350" dirty="0"/>
          </a:p>
        </p:txBody>
      </p:sp>
      <p:sp>
        <p:nvSpPr>
          <p:cNvPr id="5" name="Shape 5"/>
          <p:cNvSpPr/>
          <p:nvPr/>
        </p:nvSpPr>
        <p:spPr>
          <a:xfrm>
            <a:off x="1691639" y="2170379"/>
            <a:ext cx="2325624" cy="276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1691639" y="2170379"/>
            <a:ext cx="2325624" cy="8859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802383" y="2303272"/>
            <a:ext cx="2104136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Release Readiness</a:t>
            </a:r>
            <a:endParaRPr lang="en-US" sz="950" dirty="0"/>
          </a:p>
        </p:txBody>
      </p:sp>
      <p:sp>
        <p:nvSpPr>
          <p:cNvPr id="8" name="Text 8"/>
          <p:cNvSpPr/>
          <p:nvPr/>
        </p:nvSpPr>
        <p:spPr>
          <a:xfrm>
            <a:off x="1802383" y="2779471"/>
            <a:ext cx="210413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DC262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52</a:t>
            </a:r>
            <a:endParaRPr lang="en-US" sz="4150" dirty="0"/>
          </a:p>
        </p:txBody>
      </p:sp>
      <p:sp>
        <p:nvSpPr>
          <p:cNvPr id="9" name="Text 9"/>
          <p:cNvSpPr/>
          <p:nvPr/>
        </p:nvSpPr>
        <p:spPr>
          <a:xfrm>
            <a:off x="1802383" y="3776167"/>
            <a:ext cx="2104136" cy="276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/100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1802383" y="4108399"/>
            <a:ext cx="2104136" cy="553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Was 85 three sprints ago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4238752" y="2170379"/>
            <a:ext cx="2325624" cy="276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4238752" y="2170379"/>
            <a:ext cx="2325624" cy="8859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4349496" y="2303272"/>
            <a:ext cx="2104136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Sprint Completion</a:t>
            </a:r>
            <a:endParaRPr lang="en-US" sz="950" dirty="0"/>
          </a:p>
        </p:txBody>
      </p:sp>
      <p:sp>
        <p:nvSpPr>
          <p:cNvPr id="14" name="Text 14"/>
          <p:cNvSpPr/>
          <p:nvPr/>
        </p:nvSpPr>
        <p:spPr>
          <a:xfrm>
            <a:off x="4349496" y="2779471"/>
            <a:ext cx="210413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D9770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30%</a:t>
            </a:r>
            <a:endParaRPr lang="en-US" sz="4150" dirty="0"/>
          </a:p>
        </p:txBody>
      </p:sp>
      <p:sp>
        <p:nvSpPr>
          <p:cNvPr id="15" name="Text 15"/>
          <p:cNvSpPr/>
          <p:nvPr/>
        </p:nvSpPr>
        <p:spPr>
          <a:xfrm>
            <a:off x="4349496" y="4108399"/>
            <a:ext cx="2104136" cy="553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Sprint 5, 14 of 46 pts done</a:t>
            </a:r>
            <a:endParaRPr lang="en-US" sz="900" dirty="0"/>
          </a:p>
        </p:txBody>
      </p:sp>
      <p:sp>
        <p:nvSpPr>
          <p:cNvPr id="16" name="Shape 16"/>
          <p:cNvSpPr/>
          <p:nvPr/>
        </p:nvSpPr>
        <p:spPr>
          <a:xfrm>
            <a:off x="6785864" y="2170379"/>
            <a:ext cx="2325624" cy="276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785864" y="2170379"/>
            <a:ext cx="2325624" cy="8859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6896608" y="2303272"/>
            <a:ext cx="2104136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Critical Blockers</a:t>
            </a:r>
            <a:endParaRPr lang="en-US" sz="950" dirty="0"/>
          </a:p>
        </p:txBody>
      </p:sp>
      <p:sp>
        <p:nvSpPr>
          <p:cNvPr id="19" name="Text 19"/>
          <p:cNvSpPr/>
          <p:nvPr/>
        </p:nvSpPr>
        <p:spPr>
          <a:xfrm>
            <a:off x="6896608" y="2779471"/>
            <a:ext cx="210413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DC262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4150" dirty="0"/>
          </a:p>
        </p:txBody>
      </p:sp>
      <p:sp>
        <p:nvSpPr>
          <p:cNvPr id="20" name="Text 20"/>
          <p:cNvSpPr/>
          <p:nvPr/>
        </p:nvSpPr>
        <p:spPr>
          <a:xfrm>
            <a:off x="6896608" y="3776167"/>
            <a:ext cx="2104136" cy="276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open</a:t>
            </a:r>
            <a:endParaRPr lang="en-US" sz="1050" dirty="0"/>
          </a:p>
        </p:txBody>
      </p:sp>
      <p:sp>
        <p:nvSpPr>
          <p:cNvPr id="21" name="Text 21"/>
          <p:cNvSpPr/>
          <p:nvPr/>
        </p:nvSpPr>
        <p:spPr>
          <a:xfrm>
            <a:off x="6896608" y="4108399"/>
            <a:ext cx="2104136" cy="553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Auth, dashboard, data sync</a:t>
            </a:r>
            <a:endParaRPr lang="en-US" sz="900" dirty="0"/>
          </a:p>
        </p:txBody>
      </p:sp>
      <p:sp>
        <p:nvSpPr>
          <p:cNvPr id="22" name="Shape 22"/>
          <p:cNvSpPr/>
          <p:nvPr/>
        </p:nvSpPr>
        <p:spPr>
          <a:xfrm>
            <a:off x="9332976" y="2170379"/>
            <a:ext cx="2325624" cy="276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9332976" y="2170379"/>
            <a:ext cx="2325624" cy="8859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9443720" y="2303272"/>
            <a:ext cx="2104136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Velocity Trend</a:t>
            </a:r>
            <a:endParaRPr lang="en-US" sz="950" dirty="0"/>
          </a:p>
        </p:txBody>
      </p:sp>
      <p:sp>
        <p:nvSpPr>
          <p:cNvPr id="25" name="Text 25"/>
          <p:cNvSpPr/>
          <p:nvPr/>
        </p:nvSpPr>
        <p:spPr>
          <a:xfrm>
            <a:off x="9443720" y="2779471"/>
            <a:ext cx="210413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D9770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4150" dirty="0"/>
          </a:p>
        </p:txBody>
      </p:sp>
      <p:sp>
        <p:nvSpPr>
          <p:cNvPr id="26" name="Text 26"/>
          <p:cNvSpPr/>
          <p:nvPr/>
        </p:nvSpPr>
        <p:spPr>
          <a:xfrm>
            <a:off x="9443720" y="3776167"/>
            <a:ext cx="2104136" cy="276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Declining</a:t>
            </a:r>
            <a:endParaRPr lang="en-US" sz="1050" dirty="0"/>
          </a:p>
        </p:txBody>
      </p:sp>
      <p:sp>
        <p:nvSpPr>
          <p:cNvPr id="27" name="Text 27"/>
          <p:cNvSpPr/>
          <p:nvPr/>
        </p:nvSpPr>
        <p:spPr>
          <a:xfrm>
            <a:off x="9443720" y="4108399"/>
            <a:ext cx="2104136" cy="553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Peak 43pts, now 33pts</a:t>
            </a:r>
            <a:endParaRPr lang="en-US" sz="900" dirty="0"/>
          </a:p>
        </p:txBody>
      </p:sp>
      <p:sp>
        <p:nvSpPr>
          <p:cNvPr id="28" name="Text 28"/>
          <p:cNvSpPr/>
          <p:nvPr/>
        </p:nvSpPr>
        <p:spPr>
          <a:xfrm>
            <a:off x="1747011" y="5105095"/>
            <a:ext cx="9745472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 lives in two places: SQL Server (sprint metrics) and GitHub (issues).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agent needs to reason across both.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3200"/>
              <a:t>Three Tools. Three Jobs.</a:t>
            </a:r>
          </a:p>
        </p:txBody>
      </p:sp>
      <p:sp>
        <p:nvSpPr>
          <p:cNvPr id="4" name="Shape 4"/>
          <p:cNvSpPr/>
          <p:nvPr/>
        </p:nvSpPr>
        <p:spPr>
          <a:xfrm>
            <a:off x="1691640" y="1417320"/>
            <a:ext cx="3135672" cy="403157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691640" y="1417320"/>
            <a:ext cx="3135672" cy="1119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1691640" y="1417320"/>
            <a:ext cx="3135672" cy="80631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803628" y="1473314"/>
            <a:ext cx="2911696" cy="671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</a:t>
            </a:r>
            <a:endParaRPr lang="en-US" sz="1900" dirty="0"/>
          </a:p>
        </p:txBody>
      </p:sp>
      <p:sp>
        <p:nvSpPr>
          <p:cNvPr id="8" name="Text 8"/>
          <p:cNvSpPr/>
          <p:nvPr/>
        </p:nvSpPr>
        <p:spPr>
          <a:xfrm>
            <a:off x="1859622" y="2369220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it is:</a:t>
            </a:r>
            <a:endParaRPr lang="en-US" sz="950" dirty="0"/>
          </a:p>
        </p:txBody>
      </p:sp>
      <p:sp>
        <p:nvSpPr>
          <p:cNvPr id="9" name="Text 9"/>
          <p:cNvSpPr/>
          <p:nvPr/>
        </p:nvSpPr>
        <p:spPr>
          <a:xfrm>
            <a:off x="1859622" y="2682787"/>
            <a:ext cx="2799707" cy="1063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prebuilt or custom Power Platform connector. Its actions are added and described in each agent.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1859622" y="3825068"/>
            <a:ext cx="2799707" cy="447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1859622" y="3959454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Best for:</a:t>
            </a:r>
            <a:endParaRPr lang="en-US" sz="950" dirty="0"/>
          </a:p>
        </p:txBody>
      </p:sp>
      <p:sp>
        <p:nvSpPr>
          <p:cNvPr id="12" name="Text 12"/>
          <p:cNvSpPr/>
          <p:nvPr/>
        </p:nvSpPr>
        <p:spPr>
          <a:xfrm>
            <a:off x="1859622" y="4273022"/>
            <a:ext cx="2799707" cy="89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known service that already has a connector.</a:t>
            </a:r>
            <a:endParaRPr lang="en-US" sz="1050" dirty="0"/>
          </a:p>
        </p:txBody>
      </p:sp>
      <p:sp>
        <p:nvSpPr>
          <p:cNvPr id="13" name="Shape 13"/>
          <p:cNvSpPr/>
          <p:nvPr/>
        </p:nvSpPr>
        <p:spPr>
          <a:xfrm>
            <a:off x="5107283" y="1417320"/>
            <a:ext cx="3135672" cy="403157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107283" y="1417320"/>
            <a:ext cx="3135672" cy="1119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107283" y="1417320"/>
            <a:ext cx="3135672" cy="80631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5219271" y="1473314"/>
            <a:ext cx="2911696" cy="671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 API Tool</a:t>
            </a:r>
            <a:endParaRPr lang="en-US" sz="1900" dirty="0"/>
          </a:p>
        </p:txBody>
      </p:sp>
      <p:sp>
        <p:nvSpPr>
          <p:cNvPr id="17" name="Text 17"/>
          <p:cNvSpPr/>
          <p:nvPr/>
        </p:nvSpPr>
        <p:spPr>
          <a:xfrm>
            <a:off x="5275266" y="2369220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it is:</a:t>
            </a:r>
            <a:endParaRPr lang="en-US" sz="950" dirty="0"/>
          </a:p>
        </p:txBody>
      </p:sp>
      <p:sp>
        <p:nvSpPr>
          <p:cNvPr id="18" name="Text 18"/>
          <p:cNvSpPr/>
          <p:nvPr/>
        </p:nvSpPr>
        <p:spPr>
          <a:xfrm>
            <a:off x="5275266" y="2682787"/>
            <a:ext cx="2799707" cy="1063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Point the agent at an API and pick the endpoints. You describe each one, in each agent.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5275266" y="3825068"/>
            <a:ext cx="2799707" cy="447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5275266" y="3959454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Best for:</a:t>
            </a:r>
            <a:endParaRPr lang="en-US" sz="950" dirty="0"/>
          </a:p>
        </p:txBody>
      </p:sp>
      <p:sp>
        <p:nvSpPr>
          <p:cNvPr id="21" name="Text 21"/>
          <p:cNvSpPr/>
          <p:nvPr/>
        </p:nvSpPr>
        <p:spPr>
          <a:xfrm>
            <a:off x="5275266" y="4273022"/>
            <a:ext cx="2799707" cy="89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Prototyping fast when no connector or MCP server exists.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8522927" y="1417320"/>
            <a:ext cx="3135672" cy="403157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8522927" y="1417320"/>
            <a:ext cx="3135672" cy="111988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8522927" y="1417320"/>
            <a:ext cx="3135672" cy="806315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8634915" y="1473314"/>
            <a:ext cx="2911696" cy="671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MCP Server</a:t>
            </a:r>
            <a:endParaRPr lang="en-US" sz="1900" dirty="0"/>
          </a:p>
        </p:txBody>
      </p:sp>
      <p:sp>
        <p:nvSpPr>
          <p:cNvPr id="26" name="Text 26"/>
          <p:cNvSpPr/>
          <p:nvPr/>
        </p:nvSpPr>
        <p:spPr>
          <a:xfrm>
            <a:off x="8690909" y="2369220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it is:</a:t>
            </a:r>
            <a:endParaRPr lang="en-US" sz="950" dirty="0"/>
          </a:p>
        </p:txBody>
      </p:sp>
      <p:sp>
        <p:nvSpPr>
          <p:cNvPr id="27" name="Text 27"/>
          <p:cNvSpPr/>
          <p:nvPr/>
        </p:nvSpPr>
        <p:spPr>
          <a:xfrm>
            <a:off x="8690909" y="2682787"/>
            <a:ext cx="2799707" cy="1063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server that publishes its own tools, descriptions and inputs. Agents discover them.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8690909" y="3825068"/>
            <a:ext cx="2799707" cy="447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/>
          <p:nvPr/>
        </p:nvSpPr>
        <p:spPr>
          <a:xfrm>
            <a:off x="8690909" y="3959454"/>
            <a:ext cx="2799707" cy="31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Best for:</a:t>
            </a:r>
            <a:endParaRPr lang="en-US" sz="950" dirty="0"/>
          </a:p>
        </p:txBody>
      </p:sp>
      <p:sp>
        <p:nvSpPr>
          <p:cNvPr id="30" name="Text 30"/>
          <p:cNvSpPr/>
          <p:nvPr/>
        </p:nvSpPr>
        <p:spPr>
          <a:xfrm>
            <a:off x="8690909" y="4273022"/>
            <a:ext cx="2799707" cy="89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4661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same tools shared by many agents, or APIs that change often.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3200"/>
              <a:t>What Actually Changes With MCP</a:t>
            </a:r>
          </a:p>
        </p:txBody>
      </p:sp>
      <p:sp>
        <p:nvSpPr>
          <p:cNvPr id="4" name="Shape 4"/>
          <p:cNvSpPr/>
          <p:nvPr/>
        </p:nvSpPr>
        <p:spPr>
          <a:xfrm>
            <a:off x="1691640" y="1417320"/>
            <a:ext cx="4591520" cy="3583626"/>
          </a:xfrm>
          <a:prstGeom prst="rect">
            <a:avLst/>
          </a:prstGeom>
          <a:solidFill>
            <a:srgbClr val="1B4396"/>
          </a:solidFill>
          <a:ln w="12700">
            <a:solidFill>
              <a:srgbClr val="1B4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1803628" y="1551705"/>
            <a:ext cx="4367544" cy="503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</a:t>
            </a:r>
            <a:endParaRPr lang="en-US" sz="1800" dirty="0"/>
          </a:p>
        </p:txBody>
      </p:sp>
      <p:sp>
        <p:nvSpPr>
          <p:cNvPr id="6" name="Text 6"/>
          <p:cNvSpPr/>
          <p:nvPr/>
        </p:nvSpPr>
        <p:spPr>
          <a:xfrm>
            <a:off x="1803628" y="2089249"/>
            <a:ext cx="4367544" cy="89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define the tools,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every agent.</a:t>
            </a:r>
            <a:endParaRPr lang="en-US" sz="2300" dirty="0"/>
          </a:p>
        </p:txBody>
      </p:sp>
      <p:sp>
        <p:nvSpPr>
          <p:cNvPr id="7" name="Text 7"/>
          <p:cNvSpPr/>
          <p:nvPr/>
        </p:nvSpPr>
        <p:spPr>
          <a:xfrm>
            <a:off x="1803628" y="3097144"/>
            <a:ext cx="4367544" cy="156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action and its inputs are described when you set up each agent.</a:t>
            </a:r>
            <a:endParaRPr lang="en-US" sz="1250" dirty="0"/>
          </a:p>
          <a:p>
            <a:pPr marL="0" indent="0">
              <a:spcBef>
                <a:spcPts val="900"/>
              </a:spcBef>
              <a:buNone/>
            </a:pPr>
            <a:r>
              <a:rPr lang="en-US" sz="12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the API changes, you update every agent and republish it.</a:t>
            </a:r>
            <a:endParaRPr lang="en-US" sz="1250" dirty="0"/>
          </a:p>
          <a:p>
            <a:pPr marL="0" indent="0">
              <a:spcBef>
                <a:spcPts val="900"/>
              </a:spcBef>
              <a:buNone/>
            </a:pPr>
            <a:r>
              <a:rPr lang="en-US" sz="1250" dirty="0" b="1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to the agent. Simple. Bounded.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6428745" y="2873168"/>
            <a:ext cx="492748" cy="89590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6361552" y="2593197"/>
            <a:ext cx="627134" cy="39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</a:t>
            </a:r>
            <a:endParaRPr lang="en-US" sz="1350" dirty="0"/>
          </a:p>
        </p:txBody>
      </p:sp>
      <p:sp>
        <p:nvSpPr>
          <p:cNvPr id="10" name="Shape 10"/>
          <p:cNvSpPr/>
          <p:nvPr/>
        </p:nvSpPr>
        <p:spPr>
          <a:xfrm>
            <a:off x="7067079" y="1417320"/>
            <a:ext cx="4591520" cy="3583626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7179067" y="1551705"/>
            <a:ext cx="4367544" cy="503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2" name="Text 12"/>
          <p:cNvSpPr/>
          <p:nvPr/>
        </p:nvSpPr>
        <p:spPr>
          <a:xfrm>
            <a:off x="7179067" y="2089249"/>
            <a:ext cx="4367544" cy="89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server defines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tools, once.</a:t>
            </a:r>
            <a:endParaRPr lang="en-US" sz="2300" dirty="0"/>
          </a:p>
        </p:txBody>
      </p:sp>
      <p:sp>
        <p:nvSpPr>
          <p:cNvPr id="13" name="Text 13"/>
          <p:cNvSpPr/>
          <p:nvPr/>
        </p:nvSpPr>
        <p:spPr>
          <a:xfrm>
            <a:off x="7179067" y="3097144"/>
            <a:ext cx="4367544" cy="156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Tools and their descriptions are discovered from the server at runtime.</a:t>
            </a:r>
            <a:endParaRPr lang="en-US" sz="1250" dirty="0"/>
          </a:p>
          <a:p>
            <a:pPr marL="0" indent="0">
              <a:spcBef>
                <a:spcPts val="900"/>
              </a:spcBef>
              <a:buNone/>
            </a:pPr>
            <a:r>
              <a:rPr lang="en-US" sz="1250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Change the server, and every agent picks it up without being republished.</a:t>
            </a:r>
            <a:endParaRPr lang="en-US" sz="1250" dirty="0"/>
          </a:p>
          <a:p>
            <a:pPr marL="0" indent="0">
              <a:spcBef>
                <a:spcPts val="900"/>
              </a:spcBef>
              <a:buNone/>
            </a:pPr>
            <a:r>
              <a:rPr lang="en-US" sz="1250" dirty="0" b="1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Shared across agents. Flexible. One more thing to run.</a:t>
            </a:r>
            <a:endParaRPr lang="en-US" sz="1250" dirty="0"/>
          </a:p>
        </p:txBody>
      </p:sp>
      <p:sp>
        <p:nvSpPr>
          <p:cNvPr id="14" name="TextBox 13"/>
          <p:cNvSpPr txBox="1"/>
          <p:nvPr/>
        </p:nvSpPr>
        <p:spPr>
          <a:xfrm>
            <a:off x="1691640" y="5212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 b="1">
                <a:solidFill>
                  <a:srgbClr val="C4661B"/>
                </a:solidFill>
                <a:latin typeface="Verdana"/>
              </a:rPr>
              <a:t>In both cases the agent decides when to call a tool. What changes is who owns the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9875520" cy="1920240"/>
          </a:xfrm>
        </p:spPr>
        <p:txBody>
          <a:bodyPr anchor="t"/>
          <a:lstStyle/>
          <a:p>
            <a:r>
              <a:rPr sz="3000"/>
              <a:t>“When many agents need the same tools, and those tools keep changing, that’s your MCP signal.”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822960" y="402336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D3748"/>
                </a:solidFill>
                <a:latin typeface="Verdana"/>
              </a:rPr>
              <a:t>Remember this: the question you should ask before every architectural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3200"/>
              <a:t>Demo 1 of 2: Connector Agent</a:t>
            </a:r>
          </a:p>
        </p:txBody>
      </p:sp>
      <p:sp>
        <p:nvSpPr>
          <p:cNvPr id="4" name="Rectangle 2"/>
          <p:cNvSpPr/>
          <p:nvPr/>
        </p:nvSpPr>
        <p:spPr>
          <a:xfrm>
            <a:off x="1554480" y="1325880"/>
            <a:ext cx="10241280" cy="4800600"/>
          </a:xfrm>
          <a:prstGeom prst="rect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/>
          <p:nvPr/>
        </p:nvSpPr>
        <p:spPr>
          <a:xfrm>
            <a:off x="1920240" y="1645920"/>
            <a:ext cx="9509760" cy="552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Seven SQL tools and GitHub. Every tool added, configured and described by hand.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920240" y="2419970"/>
            <a:ext cx="9509760" cy="71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41397" y="2508433"/>
            <a:ext cx="4644301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“What is the current release readiness score?”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96277" y="2508433"/>
            <a:ext cx="4312565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SQL tool. Clean, accurate answer.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20240" y="3282483"/>
            <a:ext cx="9509760" cy="71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1397" y="3370946"/>
            <a:ext cx="4644301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“What critical bugs are open in GitHub?”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96277" y="3370946"/>
            <a:ext cx="4312565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tool. Matched to SQL by issue number.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920240" y="4144996"/>
            <a:ext cx="9509760" cy="71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1397" y="4233459"/>
            <a:ext cx="4644301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“What is blocking the release?”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96277" y="4233459"/>
            <a:ext cx="4312565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Both sources. The connector handles it.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920240" y="5004532"/>
            <a:ext cx="9509760" cy="71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2141397" y="5092995"/>
            <a:ext cx="4644301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“At our current pace, will we make the release?”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896277" y="5092995"/>
            <a:ext cx="4312565" cy="53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forecast tool. It says so.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2600"/>
              <a:t>Connector: Strengths vs. Cost of Change</a:t>
            </a:r>
          </a:p>
        </p:txBody>
      </p:sp>
      <p:sp>
        <p:nvSpPr>
          <p:cNvPr id="4" name="Shape 4"/>
          <p:cNvSpPr/>
          <p:nvPr/>
        </p:nvSpPr>
        <p:spPr>
          <a:xfrm>
            <a:off x="1691640" y="1417320"/>
            <a:ext cx="4703509" cy="36956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691640" y="1417320"/>
            <a:ext cx="4703509" cy="13438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1803628" y="1574103"/>
            <a:ext cx="4479532" cy="447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1803628" y="2089249"/>
            <a:ext cx="4479532" cy="279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 and lightweight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Easy to maintain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Predictable and testable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additional infrastructure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Perfect for scoped, known data sources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6955090" y="1417320"/>
            <a:ext cx="4703509" cy="36956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6955090" y="1417320"/>
            <a:ext cx="4703509" cy="13438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7067079" y="1574103"/>
            <a:ext cx="4479532" cy="447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add a forecast, I'd have to</a:t>
            </a:r>
            <a:endParaRPr lang="en-US" sz="1600" dirty="0"/>
          </a:p>
        </p:txBody>
      </p:sp>
      <p:sp>
        <p:nvSpPr>
          <p:cNvPr id="11" name="Text 11"/>
          <p:cNvSpPr/>
          <p:nvPr/>
        </p:nvSpPr>
        <p:spPr>
          <a:xfrm>
            <a:off x="7067079" y="2089249"/>
            <a:ext cx="4479532" cy="279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new stored procedure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a new tool to the agent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 the server, database and procedure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the description and parameter hints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 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b="1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Republish the agent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b="1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for every agent that needs it</a:t>
            </a:r>
            <a:endParaRPr lang="en-US" sz="1250" dirty="0"/>
          </a:p>
        </p:txBody>
      </p:sp>
      <p:sp>
        <p:nvSpPr>
          <p:cNvPr id="12" name="Text 12"/>
          <p:cNvSpPr/>
          <p:nvPr/>
        </p:nvSpPr>
        <p:spPr>
          <a:xfrm>
            <a:off x="1691640" y="5280916"/>
            <a:ext cx="9966959" cy="39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4661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“Connectors did the reasoning. The cost is every change: edit, republish, repeat, in every agent.”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2600"/>
              <a:t>What You'll See Today: The Demo Setup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691640" y="1261872"/>
            <a:ext cx="996696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Verdana"/>
              </a:rPr>
              <a:t>Everything on the left runs on my laptop. Built for a live demo, not for production.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1691640" y="1691640"/>
            <a:ext cx="5120640" cy="1965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B43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4"/>
          <p:cNvSpPr txBox="1"/>
          <p:nvPr/>
        </p:nvSpPr>
        <p:spPr>
          <a:xfrm>
            <a:off x="1801368" y="1746504"/>
            <a:ext cx="4901183" cy="274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900" b="1" i="0">
                <a:solidFill>
                  <a:srgbClr val="1B4396"/>
                </a:solidFill>
                <a:latin typeface="Verdana"/>
              </a:rPr>
              <a:t>MY LAPTOP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20240" y="2103120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SQL Server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Local instance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ProjectOrion database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4572000" y="2103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Custom MCP Server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TypeScript + Node.js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Running locally</a:t>
            </a:r>
          </a:p>
        </p:txBody>
      </p:sp>
      <p:cxnSp>
        <p:nvCxnSpPr>
          <p:cNvPr id="9" name="Connector 7"/>
          <p:cNvCxnSpPr/>
          <p:nvPr/>
        </p:nvCxnSpPr>
        <p:spPr>
          <a:xfrm>
            <a:off x="3840480" y="2720340"/>
            <a:ext cx="73152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8"/>
          <p:cNvSpPr/>
          <p:nvPr/>
        </p:nvSpPr>
        <p:spPr>
          <a:xfrm>
            <a:off x="7086600" y="210312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5875">
            <a:solidFill>
              <a:srgbClr val="B4BC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8A94A6"/>
                </a:solidFill>
                <a:latin typeface="Verdana"/>
              </a:rPr>
              <a:t>Dev Tunnel</a:t>
            </a:r>
          </a:p>
          <a:p>
            <a:pPr algn="ctr"/>
            <a:r>
              <a:rPr sz="1000" b="0" i="1">
                <a:solidFill>
                  <a:srgbClr val="8A94A6"/>
                </a:solidFill>
                <a:latin typeface="Verdana"/>
              </a:rPr>
              <a:t>Demo only.</a:t>
            </a:r>
          </a:p>
          <a:p>
            <a:pPr algn="ctr"/>
            <a:r>
              <a:rPr sz="1000" b="0" i="1">
                <a:solidFill>
                  <a:srgbClr val="8A94A6"/>
                </a:solidFill>
                <a:latin typeface="Verdana"/>
              </a:rPr>
              <a:t>Not an architecture</a:t>
            </a:r>
          </a:p>
          <a:p>
            <a:pPr algn="ctr"/>
            <a:r>
              <a:rPr sz="1000" b="0" i="1">
                <a:solidFill>
                  <a:srgbClr val="8A94A6"/>
                </a:solidFill>
                <a:latin typeface="Verdana"/>
              </a:rPr>
              <a:t>component.</a:t>
            </a:r>
          </a:p>
        </p:txBody>
      </p:sp>
      <p:cxnSp>
        <p:nvCxnSpPr>
          <p:cNvPr id="11" name="Connector 9"/>
          <p:cNvCxnSpPr/>
          <p:nvPr/>
        </p:nvCxnSpPr>
        <p:spPr>
          <a:xfrm>
            <a:off x="6583680" y="2720340"/>
            <a:ext cx="502920" cy="0"/>
          </a:xfrm>
          <a:prstGeom prst="line">
            <a:avLst/>
          </a:prstGeom>
          <a:ln w="25400">
            <a:solidFill>
              <a:srgbClr val="B4BCC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0"/>
          <p:cNvSpPr/>
          <p:nvPr/>
        </p:nvSpPr>
        <p:spPr>
          <a:xfrm>
            <a:off x="1691640" y="3931920"/>
            <a:ext cx="5120640" cy="16916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9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1"/>
          <p:cNvSpPr txBox="1"/>
          <p:nvPr/>
        </p:nvSpPr>
        <p:spPr>
          <a:xfrm>
            <a:off x="1801368" y="3986783"/>
            <a:ext cx="4901183" cy="274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  <a:latin typeface="Verdana"/>
              </a:rPr>
              <a:t>HOSTED BY GITHUB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20240" y="4297680"/>
            <a:ext cx="1920240" cy="10972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GitHub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Issues, labels,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open/closed state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572000" y="42976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GitHub MCP Server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github/github-mcp-server</a:t>
            </a:r>
          </a:p>
        </p:txBody>
      </p:sp>
      <p:cxnSp>
        <p:nvCxnSpPr>
          <p:cNvPr id="16" name="Connector 14"/>
          <p:cNvCxnSpPr/>
          <p:nvPr/>
        </p:nvCxnSpPr>
        <p:spPr>
          <a:xfrm>
            <a:off x="3840480" y="4846320"/>
            <a:ext cx="73152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5"/>
          <p:cNvSpPr/>
          <p:nvPr/>
        </p:nvSpPr>
        <p:spPr>
          <a:xfrm>
            <a:off x="955548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14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Copilot Studio Agent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Generative orchestration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2 MCP tools</a:t>
            </a:r>
          </a:p>
        </p:txBody>
      </p:sp>
      <p:cxnSp>
        <p:nvCxnSpPr>
          <p:cNvPr id="18" name="Connector 16"/>
          <p:cNvCxnSpPr/>
          <p:nvPr/>
        </p:nvCxnSpPr>
        <p:spPr>
          <a:xfrm>
            <a:off x="8686800" y="2720340"/>
            <a:ext cx="86868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7"/>
          <p:cNvCxnSpPr/>
          <p:nvPr/>
        </p:nvCxnSpPr>
        <p:spPr>
          <a:xfrm>
            <a:off x="6583680" y="4846320"/>
            <a:ext cx="297180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8"/>
          <p:cNvSpPr txBox="1"/>
          <p:nvPr/>
        </p:nvSpPr>
        <p:spPr>
          <a:xfrm>
            <a:off x="7452360" y="4462272"/>
            <a:ext cx="1097280" cy="34747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900" b="1" i="0">
                <a:solidFill>
                  <a:srgbClr val="1B4396"/>
                </a:solidFill>
                <a:latin typeface="Verdana"/>
              </a:rPr>
              <a:t>OAuth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1691640" y="5760720"/>
            <a:ext cx="996696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200" b="0" i="1">
                <a:solidFill>
                  <a:srgbClr val="C4661B"/>
                </a:solidFill>
                <a:latin typeface="Verdana"/>
              </a:rPr>
              <a:t>The tunnel only exists so a cloud agent can reach a database on my laptop.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2600"/>
              <a:t>What You'd Ship: Target Cloud Design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691640" y="1261872"/>
            <a:ext cx="996696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Verdana"/>
              </a:rPr>
              <a:t>Recommended design. Same agent, same tools. Only the hosting changes.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1691640" y="1691640"/>
            <a:ext cx="5120640" cy="1965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B43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4"/>
          <p:cNvSpPr txBox="1"/>
          <p:nvPr/>
        </p:nvSpPr>
        <p:spPr>
          <a:xfrm>
            <a:off x="1801368" y="1746504"/>
            <a:ext cx="4901183" cy="274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900" b="1" i="0">
                <a:solidFill>
                  <a:srgbClr val="1B4396"/>
                </a:solidFill>
                <a:latin typeface="Verdana"/>
              </a:rPr>
              <a:t>AZURE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20240" y="2103120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Azure SQL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ProjectOrion database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Access via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managed identity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4572000" y="2103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Custom MCP Server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TypeScript + Node.js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Azure hosting</a:t>
            </a:r>
          </a:p>
        </p:txBody>
      </p:sp>
      <p:cxnSp>
        <p:nvCxnSpPr>
          <p:cNvPr id="9" name="Connector 7"/>
          <p:cNvCxnSpPr/>
          <p:nvPr/>
        </p:nvCxnSpPr>
        <p:spPr>
          <a:xfrm>
            <a:off x="3840480" y="2720340"/>
            <a:ext cx="73152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8"/>
          <p:cNvSpPr/>
          <p:nvPr/>
        </p:nvSpPr>
        <p:spPr>
          <a:xfrm>
            <a:off x="1691640" y="3931920"/>
            <a:ext cx="5120640" cy="16916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9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9"/>
          <p:cNvSpPr txBox="1"/>
          <p:nvPr/>
        </p:nvSpPr>
        <p:spPr>
          <a:xfrm>
            <a:off x="1801368" y="3986783"/>
            <a:ext cx="4901183" cy="274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  <a:latin typeface="Verdana"/>
              </a:rPr>
              <a:t>HOSTED BY GITHUB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1920240" y="4297680"/>
            <a:ext cx="1920240" cy="10972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GitHub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Issues, labels,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open/closed state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572000" y="42976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88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GitHub MCP Server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github/github-mcp-server</a:t>
            </a:r>
          </a:p>
        </p:txBody>
      </p:sp>
      <p:cxnSp>
        <p:nvCxnSpPr>
          <p:cNvPr id="14" name="Connector 12"/>
          <p:cNvCxnSpPr/>
          <p:nvPr/>
        </p:nvCxnSpPr>
        <p:spPr>
          <a:xfrm>
            <a:off x="3840480" y="4846320"/>
            <a:ext cx="73152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3"/>
          <p:cNvSpPr/>
          <p:nvPr/>
        </p:nvSpPr>
        <p:spPr>
          <a:xfrm>
            <a:off x="9098280" y="1691640"/>
            <a:ext cx="2697480" cy="39319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42F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4"/>
          <p:cNvSpPr txBox="1"/>
          <p:nvPr/>
        </p:nvSpPr>
        <p:spPr>
          <a:xfrm>
            <a:off x="9208007" y="1746504"/>
            <a:ext cx="2478024" cy="274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900" b="1" i="0">
                <a:solidFill>
                  <a:srgbClr val="142F6B"/>
                </a:solidFill>
                <a:latin typeface="Verdana"/>
              </a:rPr>
              <a:t>POWER PLATFORM ENVIRONMENT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9326880" y="21031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14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Copilot Studio Agent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Generative orchestration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2 MCP tools</a:t>
            </a:r>
          </a:p>
        </p:txBody>
      </p:sp>
      <p:sp>
        <p:nvSpPr>
          <p:cNvPr id="18" name="Rounded Rectangle 16"/>
          <p:cNvSpPr/>
          <p:nvPr/>
        </p:nvSpPr>
        <p:spPr>
          <a:xfrm>
            <a:off x="9326880" y="4434840"/>
            <a:ext cx="2240280" cy="960120"/>
          </a:xfrm>
          <a:prstGeom prst="roundRect">
            <a:avLst>
              <a:gd name="adj" fmla="val 8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B4396"/>
                </a:solidFill>
                <a:latin typeface="Verdana"/>
              </a:rPr>
              <a:t>MCP connectors</a:t>
            </a:r>
          </a:p>
          <a:p>
            <a:pPr algn="ctr"/>
            <a:r>
              <a:rPr sz="1000" b="0" i="1">
                <a:solidFill>
                  <a:srgbClr val="1B4396"/>
                </a:solidFill>
                <a:latin typeface="Verdana"/>
              </a:rPr>
              <a:t>Governed by</a:t>
            </a:r>
          </a:p>
          <a:p>
            <a:pPr algn="ctr"/>
            <a:r>
              <a:rPr sz="1000" b="0" i="1">
                <a:solidFill>
                  <a:srgbClr val="1B4396"/>
                </a:solidFill>
                <a:latin typeface="Verdana"/>
              </a:rPr>
              <a:t>DLP policies</a:t>
            </a:r>
          </a:p>
        </p:txBody>
      </p:sp>
      <p:cxnSp>
        <p:nvCxnSpPr>
          <p:cNvPr id="19" name="Connector 17"/>
          <p:cNvCxnSpPr/>
          <p:nvPr/>
        </p:nvCxnSpPr>
        <p:spPr>
          <a:xfrm>
            <a:off x="6583680" y="2720340"/>
            <a:ext cx="2743200" cy="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8"/>
          <p:cNvSpPr txBox="1"/>
          <p:nvPr/>
        </p:nvSpPr>
        <p:spPr>
          <a:xfrm>
            <a:off x="6903720" y="2304288"/>
            <a:ext cx="2103120" cy="34747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900" b="1" i="0">
                <a:solidFill>
                  <a:srgbClr val="1B4396"/>
                </a:solidFill>
                <a:latin typeface="Verdana"/>
              </a:rPr>
              <a:t>Entra ID OAuth 2.0</a:t>
            </a:r>
          </a:p>
        </p:txBody>
      </p:sp>
      <p:cxnSp>
        <p:nvCxnSpPr>
          <p:cNvPr id="21" name="Connector 19"/>
          <p:cNvCxnSpPr/>
          <p:nvPr/>
        </p:nvCxnSpPr>
        <p:spPr>
          <a:xfrm flipV="1">
            <a:off x="6583680" y="3931920"/>
            <a:ext cx="2743200" cy="914400"/>
          </a:xfrm>
          <a:prstGeom prst="line">
            <a:avLst/>
          </a:prstGeom>
          <a:ln w="2540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0"/>
          <p:cNvSpPr txBox="1"/>
          <p:nvPr/>
        </p:nvSpPr>
        <p:spPr>
          <a:xfrm>
            <a:off x="7406640" y="4526280"/>
            <a:ext cx="1097280" cy="34747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900" b="1" i="0">
                <a:solidFill>
                  <a:srgbClr val="1B4396"/>
                </a:solidFill>
                <a:latin typeface="Verdana"/>
              </a:rPr>
              <a:t>OAuth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1691640" y="5760720"/>
            <a:ext cx="996696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200" b="0" i="1">
                <a:solidFill>
                  <a:srgbClr val="C4661B"/>
                </a:solidFill>
                <a:latin typeface="Verdana"/>
              </a:rPr>
              <a:t>Every connection is authenticated, and policy governs every connection.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3200"/>
              <a:t>Demo 2 of 2: MCP Agent</a:t>
            </a:r>
          </a:p>
        </p:txBody>
      </p:sp>
      <p:sp>
        <p:nvSpPr>
          <p:cNvPr id="4" name="Rectangle 2"/>
          <p:cNvSpPr/>
          <p:nvPr/>
        </p:nvSpPr>
        <p:spPr>
          <a:xfrm>
            <a:off x="1554480" y="1325880"/>
            <a:ext cx="10241280" cy="4800600"/>
          </a:xfrm>
          <a:prstGeom prst="rect">
            <a:avLst/>
          </a:prstGeom>
          <a:solidFill>
            <a:srgbClr val="1B4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/>
          <p:nvPr/>
        </p:nvSpPr>
        <p:spPr>
          <a:xfrm>
            <a:off x="1920240" y="1645920"/>
            <a:ext cx="9509760" cy="552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agent. The server changes. Nobody touches the agent.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920240" y="2419970"/>
            <a:ext cx="9509760" cy="575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41397" y="2486317"/>
            <a:ext cx="5528930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“What is the current release readiness score?”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70327" y="2486317"/>
            <a:ext cx="3538515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answer as Demo 1: 52, At Risk.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20240" y="3105557"/>
            <a:ext cx="9509760" cy="575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1397" y="3171904"/>
            <a:ext cx="5528930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“What is blocking the release?”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70327" y="3171904"/>
            <a:ext cx="3538515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blockers as Demo 1: parity.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920240" y="3791144"/>
            <a:ext cx="9509760" cy="575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1397" y="3857492"/>
            <a:ext cx="5528930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“At our current pace, will we make the release?”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70327" y="3857492"/>
            <a:ext cx="3538515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forecast tool yet. Agent says so.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20240" y="4476732"/>
            <a:ext cx="9509760" cy="575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41397" y="4543079"/>
            <a:ext cx="5528930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Flip the switch. New chat, same question.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70327" y="4543079"/>
            <a:ext cx="3538515" cy="44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B87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 tool appears. Agent follows.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2600"/>
              <a:t>MCP: Power and the Price You Pay</a:t>
            </a:r>
          </a:p>
        </p:txBody>
      </p:sp>
      <p:sp>
        <p:nvSpPr>
          <p:cNvPr id="4" name="Shape 4"/>
          <p:cNvSpPr/>
          <p:nvPr/>
        </p:nvSpPr>
        <p:spPr>
          <a:xfrm>
            <a:off x="1691640" y="1417320"/>
            <a:ext cx="4703509" cy="36956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691640" y="1417320"/>
            <a:ext cx="4703509" cy="13438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1803628" y="1574103"/>
            <a:ext cx="4479532" cy="447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You Gain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1803628" y="2089249"/>
            <a:ext cx="4479532" cy="279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Tools defined once, on the server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Agents pick up changes without republishing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Reusable across multiple agents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Tool descriptions travel with the tools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Scales to new tools without agent changes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6955090" y="1417320"/>
            <a:ext cx="4703509" cy="36956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6955090" y="1417320"/>
            <a:ext cx="4703509" cy="13438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7067079" y="1574103"/>
            <a:ext cx="4479532" cy="447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You Pay</a:t>
            </a:r>
            <a:endParaRPr lang="en-US" sz="1600" dirty="0"/>
          </a:p>
        </p:txBody>
      </p:sp>
      <p:sp>
        <p:nvSpPr>
          <p:cNvPr id="11" name="Text 11"/>
          <p:cNvSpPr/>
          <p:nvPr/>
        </p:nvSpPr>
        <p:spPr>
          <a:xfrm>
            <a:off x="7067079" y="2089249"/>
            <a:ext cx="4479532" cy="279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developer must build and maintain 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Infrastructure: hosting, identity, network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Agent quality depends on the server’s tool descriptions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Higher complexity = higher surface area for failure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Overkill when a connector would have done 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Publishing to other tenants? Certification, and a fresh review for new tools</a:t>
            </a:r>
            <a:endParaRPr lang="en-US" sz="1250" dirty="0"/>
          </a:p>
        </p:txBody>
      </p:sp>
      <p:sp>
        <p:nvSpPr>
          <p:cNvPr id="12" name="Text 12"/>
          <p:cNvSpPr/>
          <p:nvPr/>
        </p:nvSpPr>
        <p:spPr>
          <a:xfrm>
            <a:off x="1691640" y="5280916"/>
            <a:ext cx="9966959" cy="39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Complexity has a cost. Make sure your problem justifies it.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1351952"/>
          </a:xfrm>
        </p:spPr>
        <p:txBody>
          <a:bodyPr/>
          <a:lstStyle/>
          <a:p>
            <a:r>
              <a:rPr sz="3200"/>
              <a:t>When to Reach for MCP</a:t>
            </a:r>
          </a:p>
        </p:txBody>
      </p:sp>
      <p:sp>
        <p:nvSpPr>
          <p:cNvPr id="4" name="Text 4"/>
          <p:cNvSpPr/>
          <p:nvPr/>
        </p:nvSpPr>
        <p:spPr>
          <a:xfrm>
            <a:off x="3674745" y="1691640"/>
            <a:ext cx="2857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AGENT</a:t>
            </a:r>
            <a:endParaRPr lang="en-US" sz="950" dirty="0"/>
          </a:p>
        </p:txBody>
      </p:sp>
      <p:sp>
        <p:nvSpPr>
          <p:cNvPr id="5" name="Text 5"/>
          <p:cNvSpPr/>
          <p:nvPr/>
        </p:nvSpPr>
        <p:spPr>
          <a:xfrm>
            <a:off x="7560945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MANY AGENTS</a:t>
            </a:r>
            <a:endParaRPr lang="en-US" sz="950" dirty="0"/>
          </a:p>
        </p:txBody>
      </p:sp>
      <p:sp>
        <p:nvSpPr>
          <p:cNvPr id="6" name="Text 6"/>
          <p:cNvSpPr/>
          <p:nvPr/>
        </p:nvSpPr>
        <p:spPr>
          <a:xfrm>
            <a:off x="3331845" y="141732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MANY AGENTS USE THESE TOOLS? →</a:t>
            </a:r>
            <a:endParaRPr lang="en-US" sz="850" dirty="0"/>
          </a:p>
        </p:txBody>
      </p:sp>
      <p:sp>
        <p:nvSpPr>
          <p:cNvPr id="7" name="Text 7"/>
          <p:cNvSpPr/>
          <p:nvPr/>
        </p:nvSpPr>
        <p:spPr>
          <a:xfrm>
            <a:off x="2017395" y="2468880"/>
            <a:ext cx="142875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STABLE TOOLS</a:t>
            </a:r>
            <a:endParaRPr lang="en-US" sz="950" dirty="0"/>
          </a:p>
        </p:txBody>
      </p:sp>
      <p:sp>
        <p:nvSpPr>
          <p:cNvPr id="8" name="Text 8"/>
          <p:cNvSpPr/>
          <p:nvPr/>
        </p:nvSpPr>
        <p:spPr>
          <a:xfrm>
            <a:off x="2017395" y="4069080"/>
            <a:ext cx="142875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CHANGING TOOLS</a:t>
            </a:r>
            <a:endParaRPr lang="en-US" sz="950" dirty="0"/>
          </a:p>
        </p:txBody>
      </p:sp>
      <p:sp>
        <p:nvSpPr>
          <p:cNvPr id="9" name="Shape 9"/>
          <p:cNvSpPr/>
          <p:nvPr/>
        </p:nvSpPr>
        <p:spPr>
          <a:xfrm>
            <a:off x="3560445" y="2240280"/>
            <a:ext cx="3429000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97605" y="2446020"/>
            <a:ext cx="3154679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 Wins</a:t>
            </a:r>
            <a:endParaRPr lang="en-US" sz="1400" dirty="0"/>
          </a:p>
        </p:txBody>
      </p:sp>
      <p:sp>
        <p:nvSpPr>
          <p:cNvPr id="11" name="Text 11"/>
          <p:cNvSpPr/>
          <p:nvPr/>
        </p:nvSpPr>
        <p:spPr>
          <a:xfrm>
            <a:off x="3697605" y="2948940"/>
            <a:ext cx="3154679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Simple, governed, done.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/>
            </a:r>
            <a:endParaRPr lang="en-US" sz="1150" dirty="0"/>
          </a:p>
        </p:txBody>
      </p:sp>
      <p:sp>
        <p:nvSpPr>
          <p:cNvPr id="12" name="Shape 12"/>
          <p:cNvSpPr/>
          <p:nvPr/>
        </p:nvSpPr>
        <p:spPr>
          <a:xfrm>
            <a:off x="7332345" y="2240280"/>
            <a:ext cx="4000500" cy="1600200"/>
          </a:xfrm>
          <a:prstGeom prst="rect">
            <a:avLst/>
          </a:prstGeom>
          <a:solidFill>
            <a:srgbClr val="DFE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7469505" y="2446020"/>
            <a:ext cx="3726179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Evaluate MCP</a:t>
            </a:r>
            <a:endParaRPr lang="en-US" sz="1400" dirty="0"/>
          </a:p>
        </p:txBody>
      </p:sp>
      <p:sp>
        <p:nvSpPr>
          <p:cNvPr id="14" name="Text 14"/>
          <p:cNvSpPr/>
          <p:nvPr/>
        </p:nvSpPr>
        <p:spPr>
          <a:xfrm>
            <a:off x="7469505" y="2948940"/>
            <a:ext cx="3726179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shared custom connector may be enough.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Weigh maintenance cost first.</a:t>
            </a:r>
            <a:endParaRPr lang="en-US" sz="1150" dirty="0"/>
          </a:p>
        </p:txBody>
      </p:sp>
      <p:sp>
        <p:nvSpPr>
          <p:cNvPr id="15" name="Shape 15"/>
          <p:cNvSpPr/>
          <p:nvPr/>
        </p:nvSpPr>
        <p:spPr>
          <a:xfrm>
            <a:off x="3560445" y="3954779"/>
            <a:ext cx="3429000" cy="1600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3697605" y="4160520"/>
            <a:ext cx="3154679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 + Republish</a:t>
            </a:r>
            <a:endParaRPr lang="en-US" sz="1400" dirty="0"/>
          </a:p>
        </p:txBody>
      </p:sp>
      <p:sp>
        <p:nvSpPr>
          <p:cNvPr id="17" name="Text 17"/>
          <p:cNvSpPr/>
          <p:nvPr/>
        </p:nvSpPr>
        <p:spPr>
          <a:xfrm>
            <a:off x="3697605" y="4663440"/>
            <a:ext cx="3154679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With one agent,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republishing is cheap.</a:t>
            </a:r>
            <a:endParaRPr lang="en-US" sz="1150" dirty="0"/>
          </a:p>
        </p:txBody>
      </p:sp>
      <p:sp>
        <p:nvSpPr>
          <p:cNvPr id="18" name="Shape 18"/>
          <p:cNvSpPr/>
          <p:nvPr/>
        </p:nvSpPr>
        <p:spPr>
          <a:xfrm>
            <a:off x="7332345" y="3954779"/>
            <a:ext cx="4000500" cy="1600200"/>
          </a:xfrm>
          <a:prstGeom prst="rect">
            <a:avLst/>
          </a:prstGeom>
          <a:solidFill>
            <a:srgbClr val="E88C2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7469505" y="4160520"/>
            <a:ext cx="3726179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MCP Is Right</a:t>
            </a:r>
            <a:endParaRPr lang="en-US" sz="1400" dirty="0"/>
          </a:p>
        </p:txBody>
      </p:sp>
      <p:sp>
        <p:nvSpPr>
          <p:cNvPr id="20" name="Text 20"/>
          <p:cNvSpPr/>
          <p:nvPr/>
        </p:nvSpPr>
        <p:spPr>
          <a:xfrm>
            <a:off x="7469505" y="4663440"/>
            <a:ext cx="3726179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Change it once.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agent follows.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9875520" cy="1920240"/>
          </a:xfrm>
        </p:spPr>
        <p:txBody>
          <a:bodyPr anchor="t"/>
          <a:lstStyle/>
          <a:p>
            <a:r>
              <a:rPr sz="3000"/>
              <a:t>“The most expensive architectural mistake is reaching for MCP because it sounds modern.”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822960" y="402336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4661B"/>
                </a:solidFill>
                <a:latin typeface="Verdana"/>
              </a:rPr>
              <a:t>Complexity has a cost. Make sure your problem justifies it.</a:t>
            </a:r>
          </a:p>
          <a:p>
            <a:pPr algn="l">
              <a:spcBef>
                <a:spcPts val="800"/>
              </a:spcBef>
            </a:pPr>
            <a:r>
              <a:rPr sz="1400" b="0" i="1">
                <a:solidFill>
                  <a:srgbClr val="2D3748"/>
                </a:solidFill>
                <a:latin typeface="Verdana"/>
              </a:rPr>
              <a:t>Connectors and plugins are not second-class citizens. They are the right tool for the right job, and that job is more common than you think.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1351952"/>
          </a:xfrm>
        </p:spPr>
        <p:txBody>
          <a:bodyPr/>
          <a:lstStyle/>
          <a:p>
            <a:r>
              <a:rPr sz="2300"/>
              <a:t>Everything You Need to Run This Yourself</a:t>
            </a:r>
          </a:p>
        </p:txBody>
      </p:sp>
      <p:sp>
        <p:nvSpPr>
          <p:cNvPr id="4" name="Shape 4"/>
          <p:cNvSpPr/>
          <p:nvPr/>
        </p:nvSpPr>
        <p:spPr>
          <a:xfrm>
            <a:off x="1691639" y="1417320"/>
            <a:ext cx="6090920" cy="3654552"/>
          </a:xfrm>
          <a:prstGeom prst="rect">
            <a:avLst/>
          </a:prstGeom>
          <a:solidFill>
            <a:srgbClr val="1B4396"/>
          </a:solidFill>
          <a:ln w="12700">
            <a:solidFill>
              <a:srgbClr val="1B4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1857755" y="1583436"/>
            <a:ext cx="575868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Lab Guide &amp; All Artifacts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1857755" y="2170379"/>
            <a:ext cx="5537200" cy="44297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857755" y="2303272"/>
            <a:ext cx="5758688" cy="2547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SQL setup script (ProjectOrion database)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CLI script (35 issues, correlated to SQL)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Copilot MCP Server scaffold prompt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Copilot Next.js dashboard prompt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Copilot Studio agent prompts (both versions)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BF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Step-by-step lab guide PDF</a:t>
            </a:r>
            <a:endParaRPr lang="en-US" sz="1150" dirty="0"/>
          </a:p>
        </p:txBody>
      </p:sp>
      <p:sp>
        <p:nvSpPr>
          <p:cNvPr id="8" name="Shape 8"/>
          <p:cNvSpPr/>
          <p:nvPr/>
        </p:nvSpPr>
        <p:spPr>
          <a:xfrm>
            <a:off x="8114792" y="1417320"/>
            <a:ext cx="3543808" cy="3654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114792" y="1417320"/>
            <a:ext cx="3543808" cy="110744"/>
          </a:xfrm>
          <a:prstGeom prst="rect">
            <a:avLst/>
          </a:prstGeom>
          <a:solidFill>
            <a:srgbClr val="E88C24"/>
          </a:solidFill>
          <a:ln w="12700">
            <a:solidFill>
              <a:srgbClr val="E88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8225536" y="1583436"/>
            <a:ext cx="3322320" cy="442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39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Repo</a:t>
            </a:r>
            <a:endParaRPr lang="en-US" sz="1450" dirty="0"/>
          </a:p>
        </p:txBody>
      </p:sp>
      <p:sp>
        <p:nvSpPr>
          <p:cNvPr id="11" name="Shape 11"/>
          <p:cNvSpPr/>
          <p:nvPr/>
        </p:nvSpPr>
        <p:spPr>
          <a:xfrm>
            <a:off x="8763179" y="2170377"/>
            <a:ext cx="2262511" cy="2265607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8613140" y="2834843"/>
            <a:ext cx="2547112" cy="885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[QR Code]</a:t>
            </a:r>
            <a:endParaRPr lang="en-US" sz="1350" dirty="0"/>
          </a:p>
        </p:txBody>
      </p:sp>
      <p:sp>
        <p:nvSpPr>
          <p:cNvPr id="13" name="Text 13"/>
          <p:cNvSpPr/>
          <p:nvPr/>
        </p:nvSpPr>
        <p:spPr>
          <a:xfrm>
            <a:off x="8225536" y="4518152"/>
            <a:ext cx="3322320" cy="719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github.com/</a:t>
            </a:r>
            <a:r>
              <a:rPr lang="en-US" sz="950" dirty="0" err="1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dgpblogster</a:t>
            </a:r>
            <a:r>
              <a:rPr lang="en-US" sz="9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/project-</a:t>
            </a:r>
            <a:r>
              <a:rPr lang="en-US" sz="950" dirty="0" err="1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orion</a:t>
            </a:r>
            <a:r>
              <a:rPr lang="en-US" sz="95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-lab</a:t>
            </a:r>
            <a:endParaRPr lang="en-US" sz="950" dirty="0"/>
          </a:p>
        </p:txBody>
      </p:sp>
      <p:pic>
        <p:nvPicPr>
          <p:cNvPr id="14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229" y="2217296"/>
            <a:ext cx="2168527" cy="21685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9875520" cy="914400"/>
          </a:xfrm>
        </p:spPr>
        <p:txBody>
          <a:bodyPr anchor="t"/>
          <a:lstStyle/>
          <a:p>
            <a:r>
              <a:rPr sz="4000"/>
              <a:t>Questions?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822960" y="301752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D3748"/>
                </a:solidFill>
                <a:latin typeface="Verdana"/>
              </a:rPr>
              <a:t>“When many agents need the same tools, and those tools keep changing, that’s your MCP signal!”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C4661B"/>
                </a:solidFill>
                <a:latin typeface="Verdana"/>
              </a:rPr>
              <a:t>Lab guide + all artifacts: github.com/dgpblogster/project-orion-lab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2D3748"/>
                </a:solidFill>
                <a:latin typeface="Verdana"/>
              </a:rPr>
              <a:t>#CopilotStudio  #MCP  #PowerPlatform  #AIFirst  #SummitNA2026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27756" y="518951"/>
            <a:ext cx="7863840" cy="731520"/>
          </a:xfrm>
        </p:spPr>
        <p:txBody>
          <a:bodyPr/>
          <a:lstStyle/>
          <a:p>
            <a:r>
              <a:rPr sz="3200"/>
              <a:t>Contact the Speaker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783080" y="1417320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3000" b="1" i="0">
                <a:solidFill>
                  <a:srgbClr val="1B4396"/>
                </a:solidFill>
                <a:latin typeface="Verdana"/>
              </a:rPr>
              <a:t>Mariano Gomez Bent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1783080" y="2057400"/>
            <a:ext cx="603504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1" i="0">
                <a:solidFill>
                  <a:srgbClr val="C4661B"/>
                </a:solidFill>
                <a:latin typeface="Verdana"/>
              </a:rPr>
              <a:t>Chief Product &amp; Technology Officer</a:t>
            </a:r>
          </a:p>
        </p:txBody>
      </p: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60320"/>
            <a:ext cx="2103120" cy="26596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1783080" y="315468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4396"/>
                </a:solidFill>
                <a:latin typeface="Verdana"/>
              </a:rPr>
              <a:t>LinkedIn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3154680" y="3154680"/>
            <a:ext cx="47548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Verdana"/>
              </a:rPr>
              <a:t>linkedin.com/in/marianogomezbent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1783080" y="3721608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4396"/>
                </a:solidFill>
                <a:latin typeface="Verdana"/>
              </a:rPr>
              <a:t>YouTube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3154680" y="3721608"/>
            <a:ext cx="47548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Verdana"/>
              </a:rPr>
              <a:t>youtube.com/@workbench-blog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783080" y="4288536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4396"/>
                </a:solidFill>
                <a:latin typeface="Verdana"/>
              </a:rPr>
              <a:t>Blog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3154680" y="4288536"/>
            <a:ext cx="47548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Verdana"/>
              </a:rPr>
              <a:t>theworkbench.blog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783080" y="4855464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4396"/>
                </a:solidFill>
                <a:latin typeface="Verdana"/>
              </a:rPr>
              <a:t>GitHub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3154680" y="4855464"/>
            <a:ext cx="47548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Verdana"/>
              </a:rPr>
              <a:t>github.com/dgpblogster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8092440" y="13258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ontact QR" descr="contact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791" y="1463040"/>
            <a:ext cx="2577737" cy="3383280"/>
          </a:xfrm>
          <a:prstGeom prst="rect">
            <a:avLst/>
          </a:prstGeom>
        </p:spPr>
      </p:pic>
      <p:sp>
        <p:nvSpPr>
          <p:cNvPr id="17" name="TextBox 15"/>
          <p:cNvSpPr txBox="1"/>
          <p:nvPr/>
        </p:nvSpPr>
        <p:spPr>
          <a:xfrm>
            <a:off x="8183879" y="4937760"/>
            <a:ext cx="333756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00" b="1" i="0">
                <a:solidFill>
                  <a:srgbClr val="1B4396"/>
                </a:solidFill>
                <a:latin typeface="Verdana"/>
              </a:rPr>
              <a:t>Scan to save my contact card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EF95-49A9-3878-73E4-39BA7CDD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Attending!</a:t>
            </a:r>
          </a:p>
        </p:txBody>
      </p:sp>
    </p:spTree>
    <p:extLst>
      <p:ext uri="{BB962C8B-B14F-4D97-AF65-F5344CB8AC3E}">
        <p14:creationId xmlns:p14="http://schemas.microsoft.com/office/powerpoint/2010/main" val="1675779958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2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36059" y="509350"/>
            <a:ext cx="7863840" cy="731520"/>
          </a:xfrm>
        </p:spPr>
        <p:txBody>
          <a:bodyPr/>
          <a:lstStyle/>
          <a:p>
            <a:r>
              <a:rPr sz="2800"/>
              <a:t>Appendix: Demo Question Script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691640" y="1325880"/>
            <a:ext cx="4846320" cy="475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B4396"/>
                </a:solidFill>
                <a:latin typeface="Verdana"/>
              </a:rPr>
              <a:t>Demo 1: Connector agent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1.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 is the current release readiness score?”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52/100, declining, 3 blockers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2.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 critical bugs are open in GitHub?”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#25, #26, #27, matched to SQL by issue number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3.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 is blocking the release?”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#25, #26, #27 (13 pts), #28 stalled, smoke tests and rollback plan not done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4.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“What's the main pattern between our GitHub issues and sprint health?”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Fixes creating regressions (#18 led to #26); velocity 43, 38, 33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5.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“At our current pace, will we make the Orion 1.0 release?”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No forecast tool. It says so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720840" y="1325880"/>
            <a:ext cx="4846320" cy="475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1B4396"/>
                </a:solidFill>
                <a:latin typeface="Verdana"/>
              </a:rPr>
              <a:t>Demo 2: MCP agent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1.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 is the current release readiness score?”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52/100, At Risk: same answer, different architecture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2.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“What is blocking the release?”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Same blockers as Demo 1: parity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3.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“At our current pace, will we make the Orion 1.0 release?”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No release forecast available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C4661B"/>
                </a:solidFill>
                <a:latin typeface="Verdana"/>
              </a:rPr>
              <a:t>➜ FLIP THE DASHBOARD SWITCH TO DEPLOYED. DO NOT TOUCH THE AGENT. START A NEW CHAT.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B4396"/>
                </a:solidFill>
                <a:latin typeface="Verdana"/>
              </a:rPr>
              <a:t>4. </a:t>
            </a:r>
            <a:r>
              <a:rPr sz="1100" b="1" i="0">
                <a:solidFill>
                  <a:srgbClr val="2D3748"/>
                </a:solidFill>
                <a:latin typeface="Verdana"/>
              </a:rPr>
              <a:t>“At our current pace, will we make the Orion 1.0 release?”</a:t>
            </a:r>
          </a:p>
          <a:p>
            <a:pPr>
              <a:spcAft>
                <a:spcPts val="300"/>
              </a:spcAft>
            </a:pPr>
            <a:r>
              <a:rPr sz="1000" b="0" i="1">
                <a:solidFill>
                  <a:srgbClr val="5B6578"/>
                </a:solidFill>
                <a:latin typeface="Verdana"/>
              </a:rPr>
              <a:t>     Expect: </a:t>
            </a:r>
            <a:r>
              <a:rPr sz="1000" b="0" i="1">
                <a:solidFill>
                  <a:srgbClr val="5B6578"/>
                </a:solidFill>
                <a:latin typeface="Verdana"/>
              </a:rPr>
              <a:t>Not on track: 56 pts short over 8 sprints; needs 40/sprint vs 33; finishes about 2 Mar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come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itle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essions_WhiteBlu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essions_WhiteOran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ankYo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Clos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ptionalBackground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100</Words>
  <Application>Microsoft Macintosh PowerPoint</Application>
  <PresentationFormat>Widescreen</PresentationFormat>
  <Paragraphs>21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Aptos</vt:lpstr>
      <vt:lpstr>Arial</vt:lpstr>
      <vt:lpstr>Calibri</vt:lpstr>
      <vt:lpstr>Segoe</vt:lpstr>
      <vt:lpstr>Verdana</vt:lpstr>
      <vt:lpstr>WelcomeSlide</vt:lpstr>
      <vt:lpstr>TitleSlide</vt:lpstr>
      <vt:lpstr>Sessions_WhiteBlue</vt:lpstr>
      <vt:lpstr>Sessions_WhiteOrange</vt:lpstr>
      <vt:lpstr>ThankYou</vt:lpstr>
      <vt:lpstr>Closing</vt:lpstr>
      <vt:lpstr>OptionalBackgrounds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Title</vt:lpstr>
      <vt:lpstr>Session Title</vt:lpstr>
      <vt:lpstr>Speakers</vt:lpstr>
      <vt:lpstr>Speakers</vt:lpstr>
      <vt:lpstr>Session Agenda</vt:lpstr>
      <vt:lpstr>Learning Objectives</vt:lpstr>
      <vt:lpstr>PowerPoint Presentation</vt:lpstr>
      <vt:lpstr>PowerPoint Presentation</vt:lpstr>
      <vt:lpstr>PowerPoint Presentation</vt:lpstr>
      <vt:lpstr>Thank you for Attending!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darceysaxton@outlook.com</dc:creator>
  <cp:lastModifiedBy>Hannah Thorsen</cp:lastModifiedBy>
  <cp:revision>25</cp:revision>
  <dcterms:created xsi:type="dcterms:W3CDTF">2026-06-09T19:09:52Z</dcterms:created>
  <dcterms:modified xsi:type="dcterms:W3CDTF">2026-06-18T18:52:11Z</dcterms:modified>
</cp:coreProperties>
</file>